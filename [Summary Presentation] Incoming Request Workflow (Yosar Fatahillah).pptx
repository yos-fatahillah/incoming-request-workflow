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embeddedFontLst>
    <p:embeddedFont>
      <p:font typeface="Garamond"/>
      <p:regular r:id="rId10"/>
      <p:bold r:id="rId11"/>
      <p:italic r:id="rId12"/>
      <p:boldItalic r:id="rId13"/>
    </p:embeddedFont>
    <p:embeddedFont>
      <p:font typeface="Montserra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aramond-bold.fntdata"/><Relationship Id="rId10" Type="http://schemas.openxmlformats.org/officeDocument/2006/relationships/font" Target="fonts/Garamond-regular.fntdata"/><Relationship Id="rId13" Type="http://schemas.openxmlformats.org/officeDocument/2006/relationships/font" Target="fonts/Garamond-boldItalic.fntdata"/><Relationship Id="rId12" Type="http://schemas.openxmlformats.org/officeDocument/2006/relationships/font" Target="fonts/Garamond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0f7f68f7b_1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0f7f68f7b_1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0f7f68f7b_1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0af0b4d85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f0af0b4d85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f0af0b4d85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hyperlink" Target="http://github.com/yos-fatahillah/incoming-request-workflow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11" Type="http://schemas.openxmlformats.org/officeDocument/2006/relationships/image" Target="../media/image21.png"/><Relationship Id="rId10" Type="http://schemas.openxmlformats.org/officeDocument/2006/relationships/image" Target="../media/image23.png"/><Relationship Id="rId9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17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FB6D9"/>
                </a:solidFill>
                <a:latin typeface="Calibri"/>
                <a:ea typeface="Calibri"/>
                <a:cs typeface="Calibri"/>
                <a:sym typeface="Calibri"/>
              </a:rPr>
              <a:t>PROBLEM UNDERSTANDING AND OBJECTIVE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Incoming Request Processing Workflow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16916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 AI prototype that classifies incoming customer requests and executes a distinct, multi-step remediation workflow for each type.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2514600"/>
            <a:ext cx="5394960" cy="3657600"/>
          </a:xfrm>
          <a:prstGeom prst="roundRect">
            <a:avLst>
              <a:gd fmla="val 2000" name="adj"/>
            </a:avLst>
          </a:prstGeom>
          <a:solidFill>
            <a:srgbClr val="1C7293"/>
          </a:solidFill>
          <a:ln cap="flat" cmpd="sng" w="12700">
            <a:solidFill>
              <a:srgbClr val="2E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7889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1417320" y="276148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68675" y="3337552"/>
            <a:ext cx="4755000" cy="22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E6F5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DCE6F5"/>
                </a:solidFill>
                <a:latin typeface="Calibri"/>
                <a:ea typeface="Calibri"/>
                <a:cs typeface="Calibri"/>
                <a:sym typeface="Calibri"/>
              </a:rPr>
              <a:t>Every incoming request - complaint, enquiry, or service issue - is read and routed by hand, so speed and consistency depend on whoever picks it up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DCE6F5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DCE6F5"/>
                </a:solidFill>
                <a:latin typeface="Calibri"/>
                <a:ea typeface="Calibri"/>
                <a:cs typeface="Calibri"/>
                <a:sym typeface="Calibri"/>
              </a:rPr>
              <a:t>Urgent cases sit in the same queue as routine questions, so escalations get noticed late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DCE6F5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DCE6F5"/>
                </a:solidFill>
                <a:latin typeface="Calibri"/>
                <a:ea typeface="Calibri"/>
                <a:cs typeface="Calibri"/>
                <a:sym typeface="Calibri"/>
              </a:rPr>
              <a:t>Skilled agents spend their time working out what a message is, instead of resolving it</a:t>
            </a:r>
            <a:endParaRPr sz="1350">
              <a:solidFill>
                <a:srgbClr val="DCE6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217920" y="2514600"/>
            <a:ext cx="5422392" cy="3657600"/>
          </a:xfrm>
          <a:prstGeom prst="roundRect">
            <a:avLst>
              <a:gd fmla="val 2000" name="adj"/>
            </a:avLst>
          </a:prstGeom>
          <a:solidFill>
            <a:srgbClr val="1C7293"/>
          </a:solidFill>
          <a:ln cap="flat" cmpd="sng" w="12700">
            <a:solidFill>
              <a:srgbClr val="17516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" name="Google Shape;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60" y="27889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7086600" y="276148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Objective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537960" y="3218710"/>
            <a:ext cx="4892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E6F5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DCE6F5"/>
                </a:solidFill>
                <a:latin typeface="Calibri"/>
                <a:ea typeface="Calibri"/>
                <a:cs typeface="Calibri"/>
                <a:sym typeface="Calibri"/>
              </a:rPr>
              <a:t>Classify every request by type and urgency the moment it arrives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DCE6F5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DCE6F5"/>
                </a:solidFill>
                <a:latin typeface="Calibri"/>
                <a:ea typeface="Calibri"/>
                <a:cs typeface="Calibri"/>
                <a:sym typeface="Calibri"/>
              </a:rPr>
              <a:t>Trigger the right remediation path automatically: draft the reply, route to the right team, set the follow-up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DCE6F5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DCE6F5"/>
                </a:solidFill>
                <a:latin typeface="Calibri"/>
                <a:ea typeface="Calibri"/>
                <a:cs typeface="Calibri"/>
                <a:sym typeface="Calibri"/>
              </a:rPr>
              <a:t>Keep humans firmly in control of critical and uncertain cases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DCE6F5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DCE6F5"/>
                </a:solidFill>
                <a:latin typeface="Calibri"/>
                <a:ea typeface="Calibri"/>
                <a:cs typeface="Calibri"/>
                <a:sym typeface="Calibri"/>
              </a:rPr>
              <a:t>Give operations leaders live visibility: volumes, case status, and measurable time and cost saved</a:t>
            </a:r>
            <a:endParaRPr sz="1350">
              <a:solidFill>
                <a:srgbClr val="DCE6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48640" y="6355080"/>
            <a:ext cx="1106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6D9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Repository: </a:t>
            </a:r>
            <a:r>
              <a:rPr b="1" lang="en-US" sz="1050" u="sng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github.com/yos-fatahillah/incoming-request-workflow</a:t>
            </a:r>
            <a:r>
              <a:rPr b="1"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n-US" sz="105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•    Deliverables: prototype, README, PRD, Product and Maintenance Document, sample inputs/outputs, demo recording</a:t>
            </a:r>
            <a:endParaRPr b="1" i="1"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Google Shape;33;p4"/>
          <p:cNvCxnSpPr>
            <a:stCxn id="34" idx="2"/>
          </p:cNvCxnSpPr>
          <p:nvPr/>
        </p:nvCxnSpPr>
        <p:spPr>
          <a:xfrm>
            <a:off x="1597034" y="2299061"/>
            <a:ext cx="22800" cy="3268500"/>
          </a:xfrm>
          <a:prstGeom prst="straightConnector1">
            <a:avLst/>
          </a:prstGeom>
          <a:noFill/>
          <a:ln cap="flat" cmpd="sng" w="10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" name="Google Shape;35;p4"/>
          <p:cNvSpPr/>
          <p:nvPr/>
        </p:nvSpPr>
        <p:spPr>
          <a:xfrm>
            <a:off x="472440" y="216408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SOLUTION ARCHITECTURE AND DESIGN 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469392"/>
            <a:ext cx="1106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Decision logic: confidence gates the override, then branch by type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193040" y="6415288"/>
            <a:ext cx="1109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Dashed line: the low-confidence override and a direct “Escalation” classification both land on the same remediation branch.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" name="Google Shape;38;p4"/>
          <p:cNvGrpSpPr/>
          <p:nvPr/>
        </p:nvGrpSpPr>
        <p:grpSpPr>
          <a:xfrm>
            <a:off x="613054" y="1527510"/>
            <a:ext cx="1968048" cy="810202"/>
            <a:chOff x="624850" y="1143000"/>
            <a:chExt cx="1833300" cy="754800"/>
          </a:xfrm>
        </p:grpSpPr>
        <p:sp>
          <p:nvSpPr>
            <p:cNvPr id="39" name="Google Shape;39;p4"/>
            <p:cNvSpPr/>
            <p:nvPr/>
          </p:nvSpPr>
          <p:spPr>
            <a:xfrm>
              <a:off x="624850" y="1143000"/>
              <a:ext cx="1833300" cy="754800"/>
            </a:xfrm>
            <a:prstGeom prst="roundRect">
              <a:avLst>
                <a:gd fmla="val 6667" name="adj"/>
              </a:avLst>
            </a:prstGeom>
            <a:solidFill>
              <a:srgbClr val="02C39A"/>
            </a:solidFill>
            <a:ln cap="flat" cmpd="sng" w="20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5746" rotWithShape="0" algn="bl" dir="2700000" dist="32155">
                <a:srgbClr val="000000">
                  <a:alpha val="12160"/>
                </a:srgbClr>
              </a:outerShdw>
            </a:effectLst>
          </p:spPr>
          <p:txBody>
            <a:bodyPr anchorCtr="0" anchor="ctr" bIns="77125" lIns="77125" spcFirstLastPara="1" rIns="77125" wrap="square" tIns="77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40" name="Google Shape;40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4259" y="1250843"/>
              <a:ext cx="287576" cy="287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Google Shape;41;p4"/>
            <p:cNvSpPr/>
            <p:nvPr/>
          </p:nvSpPr>
          <p:spPr>
            <a:xfrm>
              <a:off x="1092161" y="1200516"/>
              <a:ext cx="12579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8575" lIns="77125" spcFirstLastPara="1" rIns="77125" wrap="square" tIns="3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5"/>
                <a:buFont typeface="Calibri"/>
                <a:buNone/>
              </a:pPr>
              <a:r>
                <a:rPr b="1" i="0" lang="en-US" sz="1055" u="none" cap="none" strike="noStrike">
                  <a:solidFill>
                    <a:srgbClr val="FFFFFF"/>
                  </a:solidFill>
                  <a:latin typeface="Garamond"/>
                  <a:ea typeface="Garamond"/>
                  <a:cs typeface="Garamond"/>
                  <a:sym typeface="Garamond"/>
                </a:rPr>
                <a:t>Intake</a:t>
              </a:r>
              <a:endParaRPr i="0" sz="1055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754259" y="1559991"/>
              <a:ext cx="15744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575" lIns="77125" spcFirstLastPara="1" rIns="77125" wrap="square" tIns="3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6EEF5"/>
                </a:buClr>
                <a:buSzPts val="802"/>
                <a:buFont typeface="Calibri"/>
                <a:buNone/>
              </a:pPr>
              <a:r>
                <a:rPr b="1" i="0" lang="en-US" sz="802" u="none" cap="none" strike="noStrike">
                  <a:solidFill>
                    <a:srgbClr val="E6EEF5"/>
                  </a:solidFill>
                  <a:latin typeface="Calibri"/>
                  <a:ea typeface="Calibri"/>
                  <a:cs typeface="Calibri"/>
                  <a:sym typeface="Calibri"/>
                </a:rPr>
                <a:t>Form / upload / simulated inbox</a:t>
              </a:r>
              <a:endParaRPr b="1" i="0" sz="80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" name="Google Shape;42;p4"/>
          <p:cNvGrpSpPr/>
          <p:nvPr/>
        </p:nvGrpSpPr>
        <p:grpSpPr>
          <a:xfrm>
            <a:off x="612993" y="3566715"/>
            <a:ext cx="1968048" cy="810202"/>
            <a:chOff x="624793" y="3070150"/>
            <a:chExt cx="1833300" cy="754800"/>
          </a:xfrm>
        </p:grpSpPr>
        <p:sp>
          <p:nvSpPr>
            <p:cNvPr id="43" name="Google Shape;43;p4"/>
            <p:cNvSpPr/>
            <p:nvPr/>
          </p:nvSpPr>
          <p:spPr>
            <a:xfrm>
              <a:off x="624793" y="3070150"/>
              <a:ext cx="1833300" cy="754800"/>
            </a:xfrm>
            <a:prstGeom prst="roundRect">
              <a:avLst>
                <a:gd fmla="val 6667" name="adj"/>
              </a:avLst>
            </a:prstGeom>
            <a:solidFill>
              <a:srgbClr val="1C7293"/>
            </a:solidFill>
            <a:ln>
              <a:noFill/>
            </a:ln>
            <a:effectLst>
              <a:outerShdw blurRad="85746" rotWithShape="0" algn="bl" dir="2700000" dist="32155">
                <a:srgbClr val="000000">
                  <a:alpha val="12160"/>
                </a:srgbClr>
              </a:outerShdw>
            </a:effectLst>
          </p:spPr>
          <p:txBody>
            <a:bodyPr anchorCtr="0" anchor="ctr" bIns="77125" lIns="77125" spcFirstLastPara="1" rIns="77125" wrap="square" tIns="77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44" name="Google Shape;44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4202" y="3177993"/>
              <a:ext cx="287576" cy="287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" name="Google Shape;45;p4"/>
            <p:cNvSpPr/>
            <p:nvPr/>
          </p:nvSpPr>
          <p:spPr>
            <a:xfrm>
              <a:off x="1092104" y="3127666"/>
              <a:ext cx="12579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8575" lIns="77125" spcFirstLastPara="1" rIns="77125" wrap="square" tIns="3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5"/>
                <a:buFont typeface="Calibri"/>
                <a:buNone/>
              </a:pPr>
              <a:r>
                <a:rPr b="1" i="0" lang="en-US" sz="1055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Safety Check</a:t>
              </a:r>
              <a:endParaRPr b="0" i="0" sz="105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754202" y="3487141"/>
              <a:ext cx="15744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575" lIns="77125" spcFirstLastPara="1" rIns="77125" wrap="square" tIns="3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6EEF5"/>
                </a:buClr>
                <a:buSzPts val="802"/>
                <a:buFont typeface="Calibri"/>
                <a:buNone/>
              </a:pPr>
              <a:r>
                <a:rPr b="1" lang="en-US" sz="802">
                  <a:solidFill>
                    <a:srgbClr val="E6EEF5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1" i="0" lang="en-US" sz="802" u="none" cap="none" strike="noStrike">
                  <a:solidFill>
                    <a:srgbClr val="E6EEF5"/>
                  </a:solidFill>
                  <a:latin typeface="Calibri"/>
                  <a:ea typeface="Calibri"/>
                  <a:cs typeface="Calibri"/>
                  <a:sym typeface="Calibri"/>
                </a:rPr>
                <a:t>onfidence = Low → override</a:t>
              </a:r>
              <a:endParaRPr b="1" i="0" sz="80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4"/>
          <p:cNvGrpSpPr/>
          <p:nvPr/>
        </p:nvGrpSpPr>
        <p:grpSpPr>
          <a:xfrm>
            <a:off x="613048" y="4567567"/>
            <a:ext cx="1968048" cy="810202"/>
            <a:chOff x="672915" y="3985075"/>
            <a:chExt cx="1833300" cy="754800"/>
          </a:xfrm>
        </p:grpSpPr>
        <p:sp>
          <p:nvSpPr>
            <p:cNvPr id="48" name="Google Shape;48;p4"/>
            <p:cNvSpPr/>
            <p:nvPr/>
          </p:nvSpPr>
          <p:spPr>
            <a:xfrm>
              <a:off x="672915" y="3985075"/>
              <a:ext cx="1833300" cy="754800"/>
            </a:xfrm>
            <a:prstGeom prst="roundRect">
              <a:avLst>
                <a:gd fmla="val 6667" name="adj"/>
              </a:avLst>
            </a:prstGeom>
            <a:solidFill>
              <a:srgbClr val="1C7293"/>
            </a:solidFill>
            <a:ln>
              <a:noFill/>
            </a:ln>
            <a:effectLst>
              <a:outerShdw blurRad="85746" rotWithShape="0" algn="bl" dir="2700000" dist="32155">
                <a:srgbClr val="000000">
                  <a:alpha val="12160"/>
                </a:srgbClr>
              </a:outerShdw>
            </a:effectLst>
          </p:spPr>
          <p:txBody>
            <a:bodyPr anchorCtr="0" anchor="ctr" bIns="77125" lIns="77125" spcFirstLastPara="1" rIns="77125" wrap="square" tIns="77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49" name="Google Shape;49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02324" y="4092918"/>
              <a:ext cx="287576" cy="287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" name="Google Shape;50;p4"/>
            <p:cNvSpPr/>
            <p:nvPr/>
          </p:nvSpPr>
          <p:spPr>
            <a:xfrm>
              <a:off x="1140225" y="4042591"/>
              <a:ext cx="12579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8575" lIns="77125" spcFirstLastPara="1" rIns="77125" wrap="square" tIns="3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5"/>
                <a:buFont typeface="Calibri"/>
                <a:buNone/>
              </a:pPr>
              <a:r>
                <a:rPr b="1" i="0" lang="en-US" sz="1055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Branch</a:t>
              </a:r>
              <a:endParaRPr b="0" i="0" sz="105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802324" y="4402066"/>
              <a:ext cx="15744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575" lIns="77125" spcFirstLastPara="1" rIns="77125" wrap="square" tIns="3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6EEF5"/>
                </a:buClr>
                <a:buSzPts val="802"/>
                <a:buFont typeface="Calibri"/>
                <a:buNone/>
              </a:pPr>
              <a:r>
                <a:rPr b="1" i="0" lang="en-US" sz="802" u="none" cap="none" strike="noStrike">
                  <a:solidFill>
                    <a:srgbClr val="E6EEF5"/>
                  </a:solidFill>
                  <a:latin typeface="Calibri"/>
                  <a:ea typeface="Calibri"/>
                  <a:cs typeface="Calibri"/>
                  <a:sym typeface="Calibri"/>
                </a:rPr>
                <a:t>Route by request_type</a:t>
              </a:r>
              <a:endParaRPr b="1" i="0" sz="80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4"/>
          <p:cNvGrpSpPr/>
          <p:nvPr/>
        </p:nvGrpSpPr>
        <p:grpSpPr>
          <a:xfrm>
            <a:off x="613049" y="5568405"/>
            <a:ext cx="1968048" cy="810202"/>
            <a:chOff x="573874" y="5051875"/>
            <a:chExt cx="1833300" cy="754800"/>
          </a:xfrm>
        </p:grpSpPr>
        <p:sp>
          <p:nvSpPr>
            <p:cNvPr id="53" name="Google Shape;53;p4"/>
            <p:cNvSpPr/>
            <p:nvPr/>
          </p:nvSpPr>
          <p:spPr>
            <a:xfrm>
              <a:off x="573874" y="5051875"/>
              <a:ext cx="1833300" cy="754800"/>
            </a:xfrm>
            <a:prstGeom prst="roundRect">
              <a:avLst>
                <a:gd fmla="val 6667" name="adj"/>
              </a:avLst>
            </a:prstGeom>
            <a:solidFill>
              <a:srgbClr val="21295C"/>
            </a:solidFill>
            <a:ln>
              <a:noFill/>
            </a:ln>
            <a:effectLst>
              <a:outerShdw blurRad="85746" rotWithShape="0" algn="bl" dir="2700000" dist="32155">
                <a:srgbClr val="000000">
                  <a:alpha val="12160"/>
                </a:srgbClr>
              </a:outerShdw>
            </a:effectLst>
          </p:spPr>
          <p:txBody>
            <a:bodyPr anchorCtr="0" anchor="ctr" bIns="77125" lIns="77125" spcFirstLastPara="1" rIns="77125" wrap="square" tIns="77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54" name="Google Shape;54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3285" y="5159718"/>
              <a:ext cx="287576" cy="287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" name="Google Shape;55;p4"/>
            <p:cNvSpPr/>
            <p:nvPr/>
          </p:nvSpPr>
          <p:spPr>
            <a:xfrm>
              <a:off x="1041187" y="5109391"/>
              <a:ext cx="5751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8575" lIns="77125" spcFirstLastPara="1" rIns="77125" wrap="square" tIns="3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5"/>
                <a:buFont typeface="Calibri"/>
                <a:buNone/>
              </a:pPr>
              <a:r>
                <a:rPr b="1" i="0" lang="en-US" sz="1055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Log</a:t>
              </a:r>
              <a:endParaRPr b="0" i="0" sz="105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703285" y="5468866"/>
              <a:ext cx="8916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575" lIns="77125" spcFirstLastPara="1" rIns="77125" wrap="square" tIns="3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6EEF5"/>
                </a:buClr>
                <a:buSzPts val="802"/>
                <a:buFont typeface="Calibri"/>
                <a:buNone/>
              </a:pPr>
              <a:r>
                <a:rPr b="1" i="0" lang="en-US" sz="802" u="none" cap="none" strike="noStrike">
                  <a:solidFill>
                    <a:srgbClr val="E6EEF5"/>
                  </a:solidFill>
                  <a:latin typeface="Calibri"/>
                  <a:ea typeface="Calibri"/>
                  <a:cs typeface="Calibri"/>
                  <a:sym typeface="Calibri"/>
                </a:rPr>
                <a:t>SQLite audit trail</a:t>
              </a:r>
              <a:endParaRPr b="1" i="0" sz="80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57;p4"/>
          <p:cNvGrpSpPr/>
          <p:nvPr/>
        </p:nvGrpSpPr>
        <p:grpSpPr>
          <a:xfrm>
            <a:off x="3193056" y="1863003"/>
            <a:ext cx="8693660" cy="4515600"/>
            <a:chOff x="1046800" y="1222248"/>
            <a:chExt cx="10067933" cy="5229415"/>
          </a:xfrm>
        </p:grpSpPr>
        <p:sp>
          <p:nvSpPr>
            <p:cNvPr id="58" name="Google Shape;58;p4"/>
            <p:cNvSpPr/>
            <p:nvPr/>
          </p:nvSpPr>
          <p:spPr>
            <a:xfrm>
              <a:off x="4722876" y="1222248"/>
              <a:ext cx="2743200" cy="384000"/>
            </a:xfrm>
            <a:prstGeom prst="roundRect">
              <a:avLst>
                <a:gd fmla="val 14286" name="adj"/>
              </a:avLst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4722876" y="1222248"/>
              <a:ext cx="27432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475" lIns="78950" spcFirstLastPara="1" rIns="78950" wrap="square" tIns="39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93"/>
                <a:buFont typeface="Calibri"/>
                <a:buNone/>
              </a:pPr>
              <a:r>
                <a:rPr b="1" i="0" lang="en-US" sz="993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Request classified by </a:t>
              </a:r>
              <a:r>
                <a:rPr b="1" lang="en-US" sz="993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LLM</a:t>
              </a:r>
              <a:endParaRPr b="0" i="0" sz="9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" name="Google Shape;60;p4"/>
            <p:cNvGrpSpPr/>
            <p:nvPr/>
          </p:nvGrpSpPr>
          <p:grpSpPr>
            <a:xfrm>
              <a:off x="4722876" y="1807464"/>
              <a:ext cx="2743200" cy="841200"/>
              <a:chOff x="4722876" y="1731264"/>
              <a:chExt cx="2743200" cy="841200"/>
            </a:xfrm>
          </p:grpSpPr>
          <p:sp>
            <p:nvSpPr>
              <p:cNvPr id="61" name="Google Shape;61;p4"/>
              <p:cNvSpPr/>
              <p:nvPr/>
            </p:nvSpPr>
            <p:spPr>
              <a:xfrm>
                <a:off x="4722876" y="1731264"/>
                <a:ext cx="2743200" cy="841200"/>
              </a:xfrm>
              <a:prstGeom prst="diamond">
                <a:avLst/>
              </a:prstGeom>
              <a:solidFill>
                <a:srgbClr val="21295C"/>
              </a:solidFill>
              <a:ln cap="flat" cmpd="sng" w="10975">
                <a:solidFill>
                  <a:srgbClr val="21295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8950" lIns="78950" spcFirstLastPara="1" rIns="78950" wrap="square" tIns="789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4951476" y="1731264"/>
                <a:ext cx="2286000" cy="84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9475" lIns="78950" spcFirstLastPara="1" rIns="78950" wrap="square" tIns="39475">
                <a:noAutofit/>
              </a:bodyPr>
              <a:lstStyle/>
              <a:p>
                <a:pPr indent="0" lvl="0" marL="0" marR="0" rtl="0" algn="ctr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993"/>
                  <a:buFont typeface="Calibri"/>
                  <a:buNone/>
                </a:pPr>
                <a:r>
                  <a:rPr b="1" i="0" lang="en-US" sz="993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Classification</a:t>
                </a:r>
                <a:endParaRPr b="0" i="0" sz="993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ctr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993"/>
                  <a:buFont typeface="Calibri"/>
                  <a:buNone/>
                </a:pPr>
                <a:r>
                  <a:rPr b="1" i="0" lang="en-US" sz="993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confidence == </a:t>
                </a:r>
                <a:r>
                  <a:rPr b="1" lang="en-US" sz="993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High</a:t>
                </a:r>
                <a:r>
                  <a:rPr b="1" i="0" lang="en-US" sz="993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?</a:t>
                </a:r>
                <a:endParaRPr b="0" i="0" sz="993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" name="Google Shape;63;p4"/>
            <p:cNvGrpSpPr/>
            <p:nvPr/>
          </p:nvGrpSpPr>
          <p:grpSpPr>
            <a:xfrm>
              <a:off x="4917873" y="2666592"/>
              <a:ext cx="416065" cy="201296"/>
              <a:chOff x="548640" y="2331720"/>
              <a:chExt cx="567000" cy="274320"/>
            </a:xfrm>
          </p:grpSpPr>
          <p:sp>
            <p:nvSpPr>
              <p:cNvPr id="64" name="Google Shape;64;p4"/>
              <p:cNvSpPr/>
              <p:nvPr/>
            </p:nvSpPr>
            <p:spPr>
              <a:xfrm>
                <a:off x="548640" y="2331720"/>
                <a:ext cx="566928" cy="274320"/>
              </a:xfrm>
              <a:prstGeom prst="roundRect">
                <a:avLst>
                  <a:gd fmla="val 50000" name="adj"/>
                </a:avLst>
              </a:prstGeom>
              <a:solidFill>
                <a:srgbClr val="1C7293"/>
              </a:solidFill>
              <a:ln>
                <a:noFill/>
              </a:ln>
            </p:spPr>
            <p:txBody>
              <a:bodyPr anchorCtr="0" anchor="ctr" bIns="57950" lIns="57950" spcFirstLastPara="1" rIns="57950" wrap="square" tIns="579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548640" y="2331720"/>
                <a:ext cx="567000" cy="27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8950" lIns="57950" spcFirstLastPara="1" rIns="57950" wrap="square" tIns="2895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34"/>
                  <a:buFont typeface="Calibri"/>
                  <a:buNone/>
                </a:pPr>
                <a:r>
                  <a:rPr b="1" lang="en-US" sz="634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YES</a:t>
                </a:r>
                <a:endParaRPr b="0" i="0" sz="634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6" name="Google Shape;66;p4"/>
            <p:cNvSpPr/>
            <p:nvPr/>
          </p:nvSpPr>
          <p:spPr>
            <a:xfrm>
              <a:off x="1386840" y="3188208"/>
              <a:ext cx="3200400" cy="438900"/>
            </a:xfrm>
            <a:prstGeom prst="roundRect">
              <a:avLst>
                <a:gd fmla="val 12500" name="adj"/>
              </a:avLst>
            </a:prstGeom>
            <a:solidFill>
              <a:srgbClr val="1C7293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1386840" y="3188208"/>
              <a:ext cx="32004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475" lIns="78950" spcFirstLastPara="1" rIns="78950" wrap="square" tIns="39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36"/>
                <a:buFont typeface="Calibri"/>
                <a:buNone/>
              </a:pPr>
              <a:r>
                <a:rPr b="1" i="0" lang="en-US" sz="1036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Branch on request_type</a:t>
              </a:r>
              <a:endParaRPr b="0" i="0" sz="10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6827524" y="2636524"/>
              <a:ext cx="442800" cy="201300"/>
            </a:xfrm>
            <a:prstGeom prst="roundRect">
              <a:avLst>
                <a:gd fmla="val 50000" name="adj"/>
              </a:avLst>
            </a:prstGeom>
            <a:solidFill>
              <a:srgbClr val="D64545"/>
            </a:solidFill>
            <a:ln>
              <a:noFill/>
            </a:ln>
          </p:spPr>
          <p:txBody>
            <a:bodyPr anchorCtr="0" anchor="ctr" bIns="57950" lIns="57950" spcFirstLastPara="1" rIns="57950" wrap="square" tIns="57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6827524" y="2636524"/>
              <a:ext cx="4428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950" lIns="57950" spcFirstLastPara="1" rIns="57950" wrap="square" tIns="289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34"/>
                <a:buFont typeface="Calibri"/>
                <a:buNone/>
              </a:pPr>
              <a:r>
                <a:rPr b="1" lang="en-US" sz="63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NO</a:t>
              </a:r>
              <a:endParaRPr b="0" i="0" sz="63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8010754" y="3188208"/>
              <a:ext cx="2697600" cy="438900"/>
            </a:xfrm>
            <a:prstGeom prst="roundRect">
              <a:avLst>
                <a:gd fmla="val 12500" name="adj"/>
              </a:avLst>
            </a:prstGeom>
            <a:solidFill>
              <a:srgbClr val="D64545"/>
            </a:solidFill>
            <a:ln cap="flat" cmpd="sng" w="9525">
              <a:solidFill>
                <a:srgbClr val="F299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8102194" y="3188208"/>
              <a:ext cx="25146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475" lIns="78950" spcFirstLastPara="1" rIns="78950" wrap="square" tIns="394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7"/>
                <a:buFont typeface="Calibri"/>
                <a:buNone/>
              </a:pPr>
              <a:r>
                <a:rPr b="1" i="0" lang="en-US" sz="1036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Force-route to Escalation </a:t>
              </a:r>
              <a:endParaRPr b="1" i="0" sz="10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7"/>
                <a:buFont typeface="Calibri"/>
                <a:buNone/>
              </a:pPr>
              <a:r>
                <a:rPr b="1" i="0" lang="en-US" sz="1036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(human review)</a:t>
              </a:r>
              <a:endParaRPr b="0" i="0" sz="10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" name="Google Shape;72;p4"/>
            <p:cNvCxnSpPr>
              <a:stCxn id="62" idx="2"/>
              <a:endCxn id="71" idx="0"/>
            </p:cNvCxnSpPr>
            <p:nvPr/>
          </p:nvCxnSpPr>
          <p:spPr>
            <a:xfrm flipH="1" rot="-5400000">
              <a:off x="7457226" y="1285914"/>
              <a:ext cx="539400" cy="3264900"/>
            </a:xfrm>
            <a:prstGeom prst="bentConnector3">
              <a:avLst>
                <a:gd fmla="val 50013" name="adj1"/>
              </a:avLst>
            </a:prstGeom>
            <a:noFill/>
            <a:ln cap="flat" cmpd="sng" w="16475">
              <a:solidFill>
                <a:srgbClr val="D64545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4"/>
            <p:cNvCxnSpPr>
              <a:stCxn id="62" idx="2"/>
              <a:endCxn id="67" idx="0"/>
            </p:cNvCxnSpPr>
            <p:nvPr/>
          </p:nvCxnSpPr>
          <p:spPr>
            <a:xfrm rot="5400000">
              <a:off x="4271076" y="1364664"/>
              <a:ext cx="539400" cy="3107400"/>
            </a:xfrm>
            <a:prstGeom prst="bentConnector3">
              <a:avLst>
                <a:gd fmla="val 50013" name="adj1"/>
              </a:avLst>
            </a:prstGeom>
            <a:noFill/>
            <a:ln cap="flat" cmpd="sng" w="19050">
              <a:solidFill>
                <a:srgbClr val="1C729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4"/>
            <p:cNvCxnSpPr>
              <a:stCxn id="67" idx="2"/>
              <a:endCxn id="75" idx="0"/>
            </p:cNvCxnSpPr>
            <p:nvPr/>
          </p:nvCxnSpPr>
          <p:spPr>
            <a:xfrm rot="5400000">
              <a:off x="2365140" y="3480108"/>
              <a:ext cx="474900" cy="768900"/>
            </a:xfrm>
            <a:prstGeom prst="bentConnector3">
              <a:avLst>
                <a:gd fmla="val 49989" name="adj1"/>
              </a:avLst>
            </a:prstGeom>
            <a:noFill/>
            <a:ln cap="flat" cmpd="sng" w="19050">
              <a:solidFill>
                <a:srgbClr val="1C729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4"/>
            <p:cNvCxnSpPr>
              <a:stCxn id="67" idx="2"/>
              <a:endCxn id="77" idx="0"/>
            </p:cNvCxnSpPr>
            <p:nvPr/>
          </p:nvCxnSpPr>
          <p:spPr>
            <a:xfrm flipH="1" rot="-5400000">
              <a:off x="3652740" y="2961408"/>
              <a:ext cx="474900" cy="1806300"/>
            </a:xfrm>
            <a:prstGeom prst="bentConnector3">
              <a:avLst>
                <a:gd fmla="val 49989" name="adj1"/>
              </a:avLst>
            </a:prstGeom>
            <a:noFill/>
            <a:ln cap="flat" cmpd="sng" w="16475">
              <a:solidFill>
                <a:srgbClr val="1C729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4"/>
            <p:cNvCxnSpPr>
              <a:stCxn id="67" idx="2"/>
              <a:endCxn id="79" idx="0"/>
            </p:cNvCxnSpPr>
            <p:nvPr/>
          </p:nvCxnSpPr>
          <p:spPr>
            <a:xfrm flipH="1" rot="-5400000">
              <a:off x="4940190" y="1673958"/>
              <a:ext cx="474900" cy="4381200"/>
            </a:xfrm>
            <a:prstGeom prst="bentConnector3">
              <a:avLst>
                <a:gd fmla="val 49989" name="adj1"/>
              </a:avLst>
            </a:prstGeom>
            <a:noFill/>
            <a:ln cap="flat" cmpd="sng" w="16475">
              <a:solidFill>
                <a:srgbClr val="1C729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" name="Google Shape;80;p4"/>
            <p:cNvCxnSpPr/>
            <p:nvPr/>
          </p:nvCxnSpPr>
          <p:spPr>
            <a:xfrm flipH="1" rot="-5400000">
              <a:off x="9604534" y="3686854"/>
              <a:ext cx="703500" cy="583800"/>
            </a:xfrm>
            <a:prstGeom prst="bentConnector3">
              <a:avLst>
                <a:gd fmla="val 17430" name="adj1"/>
              </a:avLst>
            </a:prstGeom>
            <a:noFill/>
            <a:ln cap="flat" cmpd="sng" w="16475">
              <a:solidFill>
                <a:srgbClr val="D64545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1" name="Google Shape;81;p4"/>
            <p:cNvCxnSpPr>
              <a:stCxn id="67" idx="2"/>
              <a:endCxn id="82" idx="0"/>
            </p:cNvCxnSpPr>
            <p:nvPr/>
          </p:nvCxnSpPr>
          <p:spPr>
            <a:xfrm flipH="1" rot="-5400000">
              <a:off x="6227790" y="386358"/>
              <a:ext cx="474900" cy="6956400"/>
            </a:xfrm>
            <a:prstGeom prst="bentConnector3">
              <a:avLst>
                <a:gd fmla="val 49989" name="adj1"/>
              </a:avLst>
            </a:prstGeom>
            <a:noFill/>
            <a:ln cap="flat" cmpd="sng" w="19050">
              <a:solidFill>
                <a:srgbClr val="1C729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" name="Google Shape;83;p4"/>
            <p:cNvCxnSpPr>
              <a:stCxn id="59" idx="2"/>
              <a:endCxn id="62" idx="0"/>
            </p:cNvCxnSpPr>
            <p:nvPr/>
          </p:nvCxnSpPr>
          <p:spPr>
            <a:xfrm flipH="1" rot="-5400000">
              <a:off x="5994126" y="1706598"/>
              <a:ext cx="201300" cy="600"/>
            </a:xfrm>
            <a:prstGeom prst="bentConnector3">
              <a:avLst>
                <a:gd fmla="val 49979" name="adj1"/>
              </a:avLst>
            </a:prstGeom>
            <a:noFill/>
            <a:ln cap="flat" cmpd="sng" w="19050">
              <a:solidFill>
                <a:srgbClr val="1C729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4" name="Google Shape;84;p4"/>
            <p:cNvGrpSpPr/>
            <p:nvPr/>
          </p:nvGrpSpPr>
          <p:grpSpPr>
            <a:xfrm>
              <a:off x="1046800" y="4101900"/>
              <a:ext cx="10067933" cy="2349763"/>
              <a:chOff x="548627" y="3794755"/>
              <a:chExt cx="11091697" cy="2588700"/>
            </a:xfrm>
          </p:grpSpPr>
          <p:sp>
            <p:nvSpPr>
              <p:cNvPr id="75" name="Google Shape;75;p4"/>
              <p:cNvSpPr/>
              <p:nvPr/>
            </p:nvSpPr>
            <p:spPr>
              <a:xfrm>
                <a:off x="548627" y="3794755"/>
                <a:ext cx="2580900" cy="2588700"/>
              </a:xfrm>
              <a:prstGeom prst="roundRect">
                <a:avLst>
                  <a:gd fmla="val 2593" name="adj"/>
                </a:avLst>
              </a:prstGeom>
              <a:solidFill>
                <a:srgbClr val="EAF4F8"/>
              </a:solidFill>
              <a:ln cap="flat" cmpd="sng" w="19050">
                <a:solidFill>
                  <a:srgbClr val="1C729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9639" rotWithShape="0" algn="bl" dir="2700000" dist="29865">
                  <a:srgbClr val="000000">
                    <a:alpha val="12156"/>
                  </a:srgbClr>
                </a:outerShdw>
              </a:effectLst>
            </p:spPr>
            <p:txBody>
              <a:bodyPr anchorCtr="0" anchor="ctr" bIns="71675" lIns="71675" spcFirstLastPara="1" rIns="71675" wrap="square" tIns="716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9"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749808" y="3995928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 cap="flat" cmpd="sng" w="19900">
                <a:solidFill>
                  <a:srgbClr val="F299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1675" lIns="71675" spcFirstLastPara="1" rIns="71675" wrap="square" tIns="716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preencoded.png" id="86" name="Google Shape;86;p4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859536" y="4105656"/>
                <a:ext cx="237744" cy="23774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7" name="Google Shape;87;p4"/>
              <p:cNvSpPr/>
              <p:nvPr/>
            </p:nvSpPr>
            <p:spPr>
              <a:xfrm>
                <a:off x="2169414" y="4041648"/>
                <a:ext cx="777240" cy="274320"/>
              </a:xfrm>
              <a:prstGeom prst="roundRect">
                <a:avLst>
                  <a:gd fmla="val 50000" name="adj"/>
                </a:avLst>
              </a:prstGeom>
              <a:solidFill>
                <a:srgbClr val="F2994A"/>
              </a:solidFill>
              <a:ln>
                <a:noFill/>
              </a:ln>
            </p:spPr>
            <p:txBody>
              <a:bodyPr anchorCtr="0" anchor="ctr" bIns="71675" lIns="71675" spcFirstLastPara="1" rIns="71675" wrap="square" tIns="716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2169414" y="4041648"/>
                <a:ext cx="77724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5825" lIns="71675" spcFirstLastPara="1" rIns="71675" wrap="square" tIns="358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745"/>
                  <a:buFont typeface="Calibri"/>
                  <a:buNone/>
                </a:pPr>
                <a:r>
                  <a:rPr b="1" i="0" lang="en-US" sz="745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High</a:t>
                </a:r>
                <a:endParaRPr b="0" i="0" sz="745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749808" y="4404103"/>
                <a:ext cx="21786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5825" lIns="71675" spcFirstLastPara="1" rIns="71675" wrap="square" tIns="358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1295C"/>
                  </a:buClr>
                  <a:buSzPts val="1097"/>
                  <a:buFont typeface="Cambria"/>
                  <a:buNone/>
                </a:pPr>
                <a:r>
                  <a:rPr b="1" i="0" lang="en-US" sz="1097" u="none" cap="none" strike="noStrike">
                    <a:solidFill>
                      <a:schemeClr val="accen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Complaint</a:t>
                </a:r>
                <a:endParaRPr b="0" i="0" sz="1097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749794" y="4797288"/>
                <a:ext cx="2178600" cy="146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5825" lIns="71675" spcFirstLastPara="1" rIns="71675" wrap="square" tIns="35825">
                <a:noAutofit/>
              </a:bodyPr>
              <a:lstStyle/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Acknowledge</a:t>
                </a:r>
                <a:endParaRPr b="1" i="0" sz="909" u="none" cap="none" strike="noStrike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↓</a:t>
                </a:r>
                <a:endParaRPr b="1" sz="909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E</a:t>
                </a: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scalate</a:t>
                </a:r>
                <a:endParaRPr b="1" sz="909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↓</a:t>
                </a:r>
                <a:endParaRPr b="1" sz="909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L</a:t>
                </a: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og </a:t>
                </a: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P</a:t>
                </a: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riority</a:t>
                </a:r>
                <a:endParaRPr b="1" sz="909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↓</a:t>
                </a:r>
                <a:endParaRPr b="1" sz="909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2h follow-up</a:t>
                </a:r>
                <a:endParaRPr b="1" i="0" sz="909" u="none" cap="none" strike="noStrike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3385577" y="3794755"/>
                <a:ext cx="2580900" cy="2588700"/>
              </a:xfrm>
              <a:prstGeom prst="roundRect">
                <a:avLst>
                  <a:gd fmla="val 2593" name="adj"/>
                </a:avLst>
              </a:prstGeom>
              <a:solidFill>
                <a:srgbClr val="EAF4F8"/>
              </a:solidFill>
              <a:ln cap="flat" cmpd="sng" w="19050">
                <a:solidFill>
                  <a:srgbClr val="1C729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9639" rotWithShape="0" algn="bl" dir="2700000" dist="29865">
                  <a:srgbClr val="000000">
                    <a:alpha val="12156"/>
                  </a:srgbClr>
                </a:outerShdw>
              </a:effectLst>
            </p:spPr>
            <p:txBody>
              <a:bodyPr anchorCtr="0" anchor="ctr" bIns="71675" lIns="71675" spcFirstLastPara="1" rIns="71675" wrap="square" tIns="716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9"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3586734" y="3995928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 cap="flat" cmpd="sng" w="19900">
                <a:solidFill>
                  <a:srgbClr val="02C3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1675" lIns="71675" spcFirstLastPara="1" rIns="71675" wrap="square" tIns="716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preencoded.png" id="92" name="Google Shape;92;p4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3696462" y="4105656"/>
                <a:ext cx="237744" cy="23774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" name="Google Shape;93;p4"/>
              <p:cNvSpPr/>
              <p:nvPr/>
            </p:nvSpPr>
            <p:spPr>
              <a:xfrm>
                <a:off x="5006340" y="4041648"/>
                <a:ext cx="777240" cy="274320"/>
              </a:xfrm>
              <a:prstGeom prst="roundRect">
                <a:avLst>
                  <a:gd fmla="val 50000" name="adj"/>
                </a:avLst>
              </a:prstGeom>
              <a:solidFill>
                <a:srgbClr val="02C39A"/>
              </a:solidFill>
              <a:ln>
                <a:noFill/>
              </a:ln>
            </p:spPr>
            <p:txBody>
              <a:bodyPr anchorCtr="0" anchor="ctr" bIns="71675" lIns="71675" spcFirstLastPara="1" rIns="71675" wrap="square" tIns="716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5006340" y="4041648"/>
                <a:ext cx="77724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5825" lIns="71675" spcFirstLastPara="1" rIns="71675" wrap="square" tIns="358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745"/>
                  <a:buFont typeface="Calibri"/>
                  <a:buNone/>
                </a:pPr>
                <a:r>
                  <a:rPr b="1" i="0" lang="en-US" sz="745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Low</a:t>
                </a:r>
                <a:endParaRPr b="0" i="0" sz="745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3586734" y="4404103"/>
                <a:ext cx="21786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5825" lIns="71675" spcFirstLastPara="1" rIns="71675" wrap="square" tIns="358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1295C"/>
                  </a:buClr>
                  <a:buSzPts val="1097"/>
                  <a:buFont typeface="Cambria"/>
                  <a:buNone/>
                </a:pPr>
                <a:r>
                  <a:rPr b="1" i="0" lang="en-US" sz="1097" u="none" cap="none" strike="noStrike">
                    <a:solidFill>
                      <a:schemeClr val="accen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General Enquiry</a:t>
                </a:r>
                <a:endParaRPr b="0" i="0" sz="1097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3586721" y="4797288"/>
                <a:ext cx="2178600" cy="146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5825" lIns="71675" spcFirstLastPara="1" rIns="71675" wrap="square" tIns="35825">
                <a:noAutofit/>
              </a:bodyPr>
              <a:lstStyle/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Sub-topic</a:t>
                </a:r>
                <a:endParaRPr b="1" sz="909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823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↓</a:t>
                </a: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 </a:t>
                </a:r>
                <a:endParaRPr b="1" i="0" sz="909" u="none" cap="none" strike="noStrike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Knowledge Based  </a:t>
                </a: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R</a:t>
                </a: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esponse</a:t>
                </a:r>
                <a:endParaRPr b="1" i="0" sz="909" u="none" cap="none" strike="noStrike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823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↓</a:t>
                </a:r>
                <a:endParaRPr b="1" i="0" sz="909" u="none" cap="none" strike="noStrike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S</a:t>
                </a: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end </a:t>
                </a:r>
                <a:endParaRPr b="1" i="0" sz="909" u="none" cap="none" strike="noStrike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823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↓</a:t>
                </a: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 </a:t>
                </a:r>
                <a:endParaRPr b="1" i="0" sz="909" u="none" cap="none" strike="noStrike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L</a:t>
                </a: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og resolved</a:t>
                </a:r>
                <a:endParaRPr b="1" i="0" sz="909" u="none" cap="none" strike="noStrike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</p:txBody>
          </p:sp>
          <p:sp>
            <p:nvSpPr>
              <p:cNvPr id="79" name="Google Shape;79;p4"/>
              <p:cNvSpPr/>
              <p:nvPr/>
            </p:nvSpPr>
            <p:spPr>
              <a:xfrm>
                <a:off x="6222500" y="3794755"/>
                <a:ext cx="2580900" cy="2588700"/>
              </a:xfrm>
              <a:prstGeom prst="roundRect">
                <a:avLst>
                  <a:gd fmla="val 2593" name="adj"/>
                </a:avLst>
              </a:prstGeom>
              <a:solidFill>
                <a:srgbClr val="EAF4F8"/>
              </a:solidFill>
              <a:ln cap="flat" cmpd="sng" w="19050">
                <a:solidFill>
                  <a:srgbClr val="1C729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9639" rotWithShape="0" algn="bl" dir="2700000" dist="29865">
                  <a:srgbClr val="000000">
                    <a:alpha val="12156"/>
                  </a:srgbClr>
                </a:outerShdw>
              </a:effectLst>
            </p:spPr>
            <p:txBody>
              <a:bodyPr anchorCtr="0" anchor="ctr" bIns="71675" lIns="71675" spcFirstLastPara="1" rIns="71675" wrap="square" tIns="716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9"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6423660" y="3995928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 cap="flat" cmpd="sng" w="19900">
                <a:solidFill>
                  <a:srgbClr val="F5A62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1675" lIns="71675" spcFirstLastPara="1" rIns="71675" wrap="square" tIns="716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preencoded.png" id="98" name="Google Shape;98;p4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6533388" y="4105656"/>
                <a:ext cx="237744" cy="23774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" name="Google Shape;99;p4"/>
              <p:cNvSpPr/>
              <p:nvPr/>
            </p:nvSpPr>
            <p:spPr>
              <a:xfrm>
                <a:off x="7843266" y="4041648"/>
                <a:ext cx="777240" cy="274320"/>
              </a:xfrm>
              <a:prstGeom prst="roundRect">
                <a:avLst>
                  <a:gd fmla="val 50000" name="adj"/>
                </a:avLst>
              </a:prstGeom>
              <a:solidFill>
                <a:srgbClr val="F5A623"/>
              </a:solidFill>
              <a:ln>
                <a:noFill/>
              </a:ln>
            </p:spPr>
            <p:txBody>
              <a:bodyPr anchorCtr="0" anchor="ctr" bIns="71675" lIns="71675" spcFirstLastPara="1" rIns="71675" wrap="square" tIns="716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7843266" y="4041648"/>
                <a:ext cx="77724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5825" lIns="71675" spcFirstLastPara="1" rIns="71675" wrap="square" tIns="358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745"/>
                  <a:buFont typeface="Calibri"/>
                  <a:buNone/>
                </a:pPr>
                <a:r>
                  <a:rPr b="1" i="0" lang="en-US" sz="745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Medium</a:t>
                </a:r>
                <a:endParaRPr b="0" i="0" sz="745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6423660" y="4404103"/>
                <a:ext cx="21786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5825" lIns="71675" spcFirstLastPara="1" rIns="71675" wrap="square" tIns="358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1295C"/>
                  </a:buClr>
                  <a:buSzPts val="1097"/>
                  <a:buFont typeface="Cambria"/>
                  <a:buNone/>
                </a:pPr>
                <a:r>
                  <a:rPr b="1" i="0" lang="en-US" sz="1097" u="none" cap="none" strike="noStrike">
                    <a:solidFill>
                      <a:schemeClr val="accen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Service Request</a:t>
                </a:r>
                <a:endParaRPr b="0" i="0" sz="1097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6423647" y="4797288"/>
                <a:ext cx="2178600" cy="146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5825" lIns="71675" spcFirstLastPara="1" rIns="71675" wrap="square" tIns="35825">
                <a:noAutofit/>
              </a:bodyPr>
              <a:lstStyle/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Extract</a:t>
                </a:r>
                <a:endParaRPr b="1" i="0" sz="909" u="none" cap="none" strike="noStrike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823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↓</a:t>
                </a:r>
                <a:endParaRPr b="1" sz="823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R</a:t>
                </a: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oute </a:t>
                </a: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D</a:t>
                </a: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epartment</a:t>
                </a:r>
                <a:endParaRPr b="1" i="0" sz="909" u="none" cap="none" strike="noStrike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823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↓</a:t>
                </a:r>
                <a:endParaRPr b="1" sz="823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C</a:t>
                </a: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onfirm</a:t>
                </a:r>
                <a:endParaRPr b="1" i="0" sz="909" u="none" cap="none" strike="noStrike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823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↓</a:t>
                </a:r>
                <a:endParaRPr b="1" sz="823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SLA </a:t>
                </a: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T</a:t>
                </a: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imer</a:t>
                </a:r>
                <a:endParaRPr b="1" i="0" sz="909" u="none" cap="none" strike="noStrike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</p:txBody>
          </p:sp>
          <p:sp>
            <p:nvSpPr>
              <p:cNvPr id="82" name="Google Shape;82;p4"/>
              <p:cNvSpPr/>
              <p:nvPr/>
            </p:nvSpPr>
            <p:spPr>
              <a:xfrm>
                <a:off x="9059423" y="3794755"/>
                <a:ext cx="2580900" cy="2588700"/>
              </a:xfrm>
              <a:prstGeom prst="roundRect">
                <a:avLst>
                  <a:gd fmla="val 2593" name="adj"/>
                </a:avLst>
              </a:prstGeom>
              <a:solidFill>
                <a:srgbClr val="EAF4F8"/>
              </a:solidFill>
              <a:ln cap="flat" cmpd="sng" w="19050">
                <a:solidFill>
                  <a:srgbClr val="1C7293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79639" rotWithShape="0" algn="bl" dir="2700000" dist="29865">
                  <a:srgbClr val="000000">
                    <a:alpha val="12156"/>
                  </a:srgbClr>
                </a:outerShdw>
              </a:effectLst>
            </p:spPr>
            <p:txBody>
              <a:bodyPr anchorCtr="0" anchor="ctr" bIns="71675" lIns="71675" spcFirstLastPara="1" rIns="71675" wrap="square" tIns="716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9"/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9260586" y="3995928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 cap="flat" cmpd="sng" w="19900">
                <a:solidFill>
                  <a:srgbClr val="D6454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1675" lIns="71675" spcFirstLastPara="1" rIns="71675" wrap="square" tIns="716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preencoded.png" id="104" name="Google Shape;104;p4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9370314" y="4105656"/>
                <a:ext cx="237744" cy="23774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5" name="Google Shape;105;p4"/>
              <p:cNvSpPr/>
              <p:nvPr/>
            </p:nvSpPr>
            <p:spPr>
              <a:xfrm>
                <a:off x="10680192" y="4041648"/>
                <a:ext cx="777240" cy="274320"/>
              </a:xfrm>
              <a:prstGeom prst="roundRect">
                <a:avLst>
                  <a:gd fmla="val 50000" name="adj"/>
                </a:avLst>
              </a:prstGeom>
              <a:solidFill>
                <a:srgbClr val="D64545"/>
              </a:solidFill>
              <a:ln>
                <a:noFill/>
              </a:ln>
            </p:spPr>
            <p:txBody>
              <a:bodyPr anchorCtr="0" anchor="ctr" bIns="71675" lIns="71675" spcFirstLastPara="1" rIns="71675" wrap="square" tIns="716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10680192" y="4041648"/>
                <a:ext cx="77724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5825" lIns="71675" spcFirstLastPara="1" rIns="71675" wrap="square" tIns="358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745"/>
                  <a:buFont typeface="Calibri"/>
                  <a:buNone/>
                </a:pPr>
                <a:r>
                  <a:rPr b="1" i="0" lang="en-US" sz="745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Critical</a:t>
                </a:r>
                <a:endParaRPr b="0" i="0" sz="745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9260586" y="4404103"/>
                <a:ext cx="21786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5825" lIns="71675" spcFirstLastPara="1" rIns="71675" wrap="square" tIns="358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1295C"/>
                  </a:buClr>
                  <a:buSzPts val="1097"/>
                  <a:buFont typeface="Cambria"/>
                  <a:buNone/>
                </a:pPr>
                <a:r>
                  <a:rPr b="1" i="0" lang="en-US" sz="1097" u="none" cap="none" strike="noStrike">
                    <a:solidFill>
                      <a:schemeClr val="accen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Escalation</a:t>
                </a:r>
                <a:endParaRPr b="0" i="0" sz="1097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9260574" y="4797288"/>
                <a:ext cx="2178600" cy="146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5825" lIns="71675" spcFirstLastPara="1" rIns="71675" wrap="square" tIns="35825">
                <a:noAutofit/>
              </a:bodyPr>
              <a:lstStyle/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Flag human</a:t>
                </a:r>
                <a:endParaRPr b="1" i="0" sz="909" u="none" cap="none" strike="noStrike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823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↓</a:t>
                </a:r>
                <a:endParaRPr b="1" sz="823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D</a:t>
                </a: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raft </a:t>
                </a: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A</a:t>
                </a: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cknowledgement</a:t>
                </a:r>
                <a:endParaRPr b="1" i="0" sz="909" u="none" cap="none" strike="noStrike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823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↓</a:t>
                </a:r>
                <a:endParaRPr b="1" sz="823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N</a:t>
                </a: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otify </a:t>
                </a: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S</a:t>
                </a: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upervisor</a:t>
                </a:r>
                <a:endParaRPr b="1" i="0" sz="909" u="none" cap="none" strike="noStrike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823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↓</a:t>
                </a:r>
                <a:endParaRPr b="1" sz="823">
                  <a:solidFill>
                    <a:srgbClr val="475569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  <a:p>
                <a:pPr indent="0" lvl="0" marL="0" marR="0" rtl="0" algn="ctr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823"/>
                  <a:buFont typeface="Calibri"/>
                  <a:buNone/>
                </a:pP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P</a:t>
                </a: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ause </a:t>
                </a:r>
                <a:r>
                  <a:rPr b="1" lang="en-US" sz="909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A</a:t>
                </a:r>
                <a:r>
                  <a:rPr b="1" i="0" lang="en-US" sz="909" u="none" cap="none" strike="noStrike">
                    <a:solidFill>
                      <a:srgbClr val="475569"/>
                    </a:solidFill>
                    <a:latin typeface="Garamond"/>
                    <a:ea typeface="Garamond"/>
                    <a:cs typeface="Garamond"/>
                    <a:sym typeface="Garamond"/>
                  </a:rPr>
                  <a:t>uto</a:t>
                </a:r>
                <a:endParaRPr b="1" i="0" sz="909" u="none" cap="none" strike="noStrike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endParaRPr>
              </a:p>
            </p:txBody>
          </p:sp>
        </p:grpSp>
      </p:grpSp>
      <p:grpSp>
        <p:nvGrpSpPr>
          <p:cNvPr id="109" name="Google Shape;109;p4"/>
          <p:cNvGrpSpPr/>
          <p:nvPr/>
        </p:nvGrpSpPr>
        <p:grpSpPr>
          <a:xfrm>
            <a:off x="613015" y="2522753"/>
            <a:ext cx="1968048" cy="810202"/>
            <a:chOff x="672934" y="2313900"/>
            <a:chExt cx="1833300" cy="754800"/>
          </a:xfrm>
        </p:grpSpPr>
        <p:sp>
          <p:nvSpPr>
            <p:cNvPr id="110" name="Google Shape;110;p4"/>
            <p:cNvSpPr/>
            <p:nvPr/>
          </p:nvSpPr>
          <p:spPr>
            <a:xfrm>
              <a:off x="672934" y="2313900"/>
              <a:ext cx="1833300" cy="754800"/>
            </a:xfrm>
            <a:prstGeom prst="roundRect">
              <a:avLst>
                <a:gd fmla="val 6667" name="adj"/>
              </a:avLst>
            </a:prstGeom>
            <a:solidFill>
              <a:srgbClr val="065A82"/>
            </a:solidFill>
            <a:ln>
              <a:noFill/>
            </a:ln>
            <a:effectLst>
              <a:outerShdw blurRad="85746" rotWithShape="0" algn="bl" dir="2700000" dist="32155">
                <a:srgbClr val="000000">
                  <a:alpha val="12160"/>
                </a:srgbClr>
              </a:outerShdw>
            </a:effectLst>
          </p:spPr>
          <p:txBody>
            <a:bodyPr anchorCtr="0" anchor="ctr" bIns="77125" lIns="77125" spcFirstLastPara="1" rIns="77125" wrap="square" tIns="77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36"/>
                <a:buFont typeface="Calibri"/>
                <a:buNone/>
              </a:pPr>
              <a:r>
                <a:rPr b="1" lang="en-US" sz="105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r>
                <a:rPr b="1" lang="en-US" sz="105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Classify</a:t>
              </a:r>
              <a:endParaRPr sz="105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3"/>
            </a:p>
          </p:txBody>
        </p:sp>
        <p:pic>
          <p:nvPicPr>
            <p:cNvPr descr="preencoded.png" id="111" name="Google Shape;111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02343" y="2497943"/>
              <a:ext cx="287576" cy="287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4"/>
            <p:cNvSpPr/>
            <p:nvPr/>
          </p:nvSpPr>
          <p:spPr>
            <a:xfrm>
              <a:off x="802343" y="2726354"/>
              <a:ext cx="15744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575" lIns="77125" spcFirstLastPara="1" rIns="77125" wrap="square" tIns="3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6EEF5"/>
                </a:buClr>
                <a:buSzPts val="802"/>
                <a:buFont typeface="Calibri"/>
                <a:buNone/>
              </a:pPr>
              <a:r>
                <a:rPr b="1" i="0" lang="en-US" sz="802" u="none" cap="none" strike="noStrike">
                  <a:solidFill>
                    <a:srgbClr val="E6EEF5"/>
                  </a:solidFill>
                  <a:latin typeface="Calibri"/>
                  <a:ea typeface="Calibri"/>
                  <a:cs typeface="Calibri"/>
                  <a:sym typeface="Calibri"/>
                </a:rPr>
                <a:t>Claude: type, urgency, confidence</a:t>
              </a:r>
              <a:endParaRPr b="1" i="0" sz="80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3" name="Google Shape;113;p4"/>
          <p:cNvCxnSpPr/>
          <p:nvPr/>
        </p:nvCxnSpPr>
        <p:spPr>
          <a:xfrm flipH="1">
            <a:off x="2844900" y="1257700"/>
            <a:ext cx="2700" cy="5143200"/>
          </a:xfrm>
          <a:prstGeom prst="straightConnector1">
            <a:avLst/>
          </a:prstGeom>
          <a:noFill/>
          <a:ln cap="flat" cmpd="sng" w="114300">
            <a:solidFill>
              <a:srgbClr val="1C72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4"/>
          <p:cNvSpPr txBox="1"/>
          <p:nvPr/>
        </p:nvSpPr>
        <p:spPr>
          <a:xfrm>
            <a:off x="612991" y="1150900"/>
            <a:ext cx="19683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6375" lIns="96375" spcFirstLastPara="1" rIns="96375" wrap="square" tIns="96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latin typeface="Montserrat"/>
                <a:ea typeface="Montserrat"/>
                <a:cs typeface="Montserrat"/>
                <a:sym typeface="Montserrat"/>
              </a:rPr>
              <a:t>Pipeline</a:t>
            </a:r>
            <a:endParaRPr b="1" sz="1054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5" name="Google Shape;115;p4"/>
          <p:cNvGrpSpPr/>
          <p:nvPr/>
        </p:nvGrpSpPr>
        <p:grpSpPr>
          <a:xfrm>
            <a:off x="6367348" y="1405803"/>
            <a:ext cx="2368753" cy="505407"/>
            <a:chOff x="4722876" y="1222248"/>
            <a:chExt cx="2743200" cy="585300"/>
          </a:xfrm>
        </p:grpSpPr>
        <p:sp>
          <p:nvSpPr>
            <p:cNvPr id="116" name="Google Shape;116;p4"/>
            <p:cNvSpPr/>
            <p:nvPr/>
          </p:nvSpPr>
          <p:spPr>
            <a:xfrm>
              <a:off x="4722876" y="1222248"/>
              <a:ext cx="2743200" cy="384000"/>
            </a:xfrm>
            <a:prstGeom prst="rect">
              <a:avLst/>
            </a:prstGeom>
            <a:solidFill>
              <a:srgbClr val="02C39A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9475" lIns="78950" spcFirstLastPara="1" rIns="78950" wrap="square" tIns="39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93"/>
                <a:buFont typeface="Calibri"/>
                <a:buNone/>
              </a:pPr>
              <a:r>
                <a:rPr b="1" lang="en-US" sz="993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Incoming Request</a:t>
              </a:r>
              <a:endParaRPr b="0" i="0" sz="9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" name="Google Shape;117;p4"/>
            <p:cNvCxnSpPr>
              <a:stCxn id="116" idx="2"/>
            </p:cNvCxnSpPr>
            <p:nvPr/>
          </p:nvCxnSpPr>
          <p:spPr>
            <a:xfrm flipH="1" rot="-5400000">
              <a:off x="5994126" y="1706598"/>
              <a:ext cx="201300" cy="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rgbClr val="1C729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IMPLEMENTATION HIGHLIGHTS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Built on Claude classification + a confidence-gated override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48640" y="1508760"/>
            <a:ext cx="6035040" cy="4023360"/>
          </a:xfrm>
          <a:prstGeom prst="roundRect">
            <a:avLst>
              <a:gd fmla="val 1591" name="adj"/>
            </a:avLst>
          </a:prstGeom>
          <a:solidFill>
            <a:srgbClr val="1B2A3D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7373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1234440" y="1719072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workflows.py — run_workflow()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822960" y="2148840"/>
            <a:ext cx="5486400" cy="3246120"/>
          </a:xfrm>
          <a:prstGeom prst="rect">
            <a:avLst/>
          </a:prstGeom>
          <a:solidFill>
            <a:srgbClr val="0F1B2A"/>
          </a:solidFill>
          <a:ln>
            <a:noFill/>
          </a:ln>
        </p:spPr>
        <p:txBody>
          <a:bodyPr anchorCtr="0" anchor="t" bIns="101600" lIns="101600" spcFirstLastPara="1" rIns="101600" wrap="square" tIns="1016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EE3F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EE3F8"/>
                </a:solidFill>
                <a:latin typeface="Consolas"/>
                <a:ea typeface="Consolas"/>
                <a:cs typeface="Consolas"/>
                <a:sym typeface="Consolas"/>
              </a:rPr>
              <a:t>if confidence == "Low" and \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EE3F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EE3F8"/>
                </a:solidFill>
                <a:latin typeface="Consolas"/>
                <a:ea typeface="Consolas"/>
                <a:cs typeface="Consolas"/>
                <a:sym typeface="Consolas"/>
              </a:rPr>
              <a:t>   request_type != "Escalation":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EE3F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EE3F8"/>
                </a:solidFill>
                <a:latin typeface="Consolas"/>
                <a:ea typeface="Consolas"/>
                <a:cs typeface="Consolas"/>
                <a:sym typeface="Consolas"/>
              </a:rPr>
              <a:t>    result = handle_escalation(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EE3F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EE3F8"/>
                </a:solidFill>
                <a:latin typeface="Consolas"/>
                <a:ea typeface="Consolas"/>
                <a:cs typeface="Consolas"/>
                <a:sym typeface="Consolas"/>
              </a:rPr>
              <a:t>        request_id, text, classification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EE3F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EE3F8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EE3F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EE3F8"/>
                </a:solidFill>
                <a:latin typeface="Consolas"/>
                <a:ea typeface="Consolas"/>
                <a:cs typeface="Consolas"/>
                <a:sym typeface="Consolas"/>
              </a:rPr>
              <a:t>    result["override_applied"] = True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EE3F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EE3F8"/>
                </a:solidFill>
                <a:latin typeface="Consolas"/>
                <a:ea typeface="Consolas"/>
                <a:cs typeface="Consolas"/>
                <a:sym typeface="Consolas"/>
              </a:rPr>
              <a:t>    result["override_reason"] = (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EE3F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EE3F8"/>
                </a:solidFill>
                <a:latin typeface="Consolas"/>
                <a:ea typeface="Consolas"/>
                <a:cs typeface="Consolas"/>
                <a:sym typeface="Consolas"/>
              </a:rPr>
              <a:t>        f"Low confidence on '{request_type}' 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EE3F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EE3F8"/>
                </a:solidFill>
                <a:latin typeface="Consolas"/>
                <a:ea typeface="Consolas"/>
                <a:cs typeface="Consolas"/>
                <a:sym typeface="Consolas"/>
              </a:rPr>
              <a:t>        "-&gt; auto-escalated to human review"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EE3F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EE3F8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EE3F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EE3F8"/>
                </a:solidFill>
                <a:latin typeface="Consolas"/>
                <a:ea typeface="Consolas"/>
                <a:cs typeface="Consolas"/>
                <a:sym typeface="Consolas"/>
              </a:rPr>
              <a:t>    return result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EE3F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EE3F8"/>
                </a:solidFill>
                <a:latin typeface="Consolas"/>
                <a:ea typeface="Consolas"/>
                <a:cs typeface="Consolas"/>
                <a:sym typeface="Consolas"/>
              </a:rPr>
              <a:t>handler = BRANCH_MAP.get(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EE3F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EE3F8"/>
                </a:solidFill>
                <a:latin typeface="Consolas"/>
                <a:ea typeface="Consolas"/>
                <a:cs typeface="Consolas"/>
                <a:sym typeface="Consolas"/>
              </a:rPr>
              <a:t>    request_type, handle_general_enquiry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EE3F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EE3F8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EE3F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BEE3F8"/>
                </a:solidFill>
                <a:latin typeface="Consolas"/>
                <a:ea typeface="Consolas"/>
                <a:cs typeface="Consolas"/>
                <a:sym typeface="Consolas"/>
              </a:rPr>
              <a:t>return handler(request_id, text, classification)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858000" y="15087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Tech Stack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858000" y="1975104"/>
            <a:ext cx="256032" cy="256032"/>
          </a:xfrm>
          <a:prstGeom prst="ellipse">
            <a:avLst/>
          </a:prstGeom>
          <a:solidFill>
            <a:srgbClr val="EA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2864" y="2029968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7223760" y="1938528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Python 3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orchestration: classifier.py, workflows.py, storage.py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858000" y="2505456"/>
            <a:ext cx="256032" cy="256032"/>
          </a:xfrm>
          <a:prstGeom prst="ellipse">
            <a:avLst/>
          </a:prstGeom>
          <a:solidFill>
            <a:srgbClr val="EA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2864" y="256032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7223760" y="246888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Claude API (claude-sonnet-4-5)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classification + draft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858000" y="3035808"/>
            <a:ext cx="256032" cy="256032"/>
          </a:xfrm>
          <a:prstGeom prst="ellipse">
            <a:avLst/>
          </a:prstGeom>
          <a:solidFill>
            <a:srgbClr val="EA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2864" y="3090672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7223760" y="2999232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Streamlit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3-tab UI: intake, batch run,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858000" y="3566160"/>
            <a:ext cx="256032" cy="256032"/>
          </a:xfrm>
          <a:prstGeom prst="ellipse">
            <a:avLst/>
          </a:prstGeom>
          <a:solidFill>
            <a:srgbClr val="EA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2864" y="3621024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/>
          <p:nvPr/>
        </p:nvSpPr>
        <p:spPr>
          <a:xfrm>
            <a:off x="7223760" y="3529584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SQLite + Pandas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audit trail, dashboard aggregation, CSV export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858000" y="41605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Branching &amp; Reasoning Design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858000" y="4572000"/>
            <a:ext cx="4754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Classifier self-reports confidence, not just a label — used directly as the override trigger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Department routing inferred by keyword match (billing / technical / account / shipping / general)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Offline keyword-fallback engine mirrors the same branch/step contract — pipeline never goes down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4F8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548640" y="320040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CHALLENGES AND LEARNINGS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48640" y="658368"/>
            <a:ext cx="1106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What broke, what we watched out for, and what it taught us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48640" y="1371600"/>
            <a:ext cx="5440800" cy="1572900"/>
          </a:xfrm>
          <a:prstGeom prst="roundRect">
            <a:avLst>
              <a:gd fmla="val 348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713232" y="1517904"/>
            <a:ext cx="365700" cy="3657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60934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1170432" y="1463040"/>
            <a:ext cx="4635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Bug: over-eager 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731520" y="1920240"/>
            <a:ext cx="507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offline fallback flagged every signal-free message as low-confidence, sending all enquiries to review. Fixed by limiting that to short, vague, question-mark-free text.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217920" y="1371600"/>
            <a:ext cx="5440800" cy="1572900"/>
          </a:xfrm>
          <a:prstGeom prst="roundRect">
            <a:avLst>
              <a:gd fmla="val 348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6382512" y="1517904"/>
            <a:ext cx="365700" cy="3657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3952" y="160934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/>
          <p:nvPr/>
        </p:nvSpPr>
        <p:spPr>
          <a:xfrm>
            <a:off x="6839712" y="1463040"/>
            <a:ext cx="4635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Trade-off: draft-then-hold for Escalation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400800" y="1920240"/>
            <a:ext cx="507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Critical cases get a drafted reply that is held, not auto-sent - a human always reviews it before an upset customer sees it.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48640" y="3090672"/>
            <a:ext cx="5440800" cy="1572900"/>
          </a:xfrm>
          <a:prstGeom prst="roundRect">
            <a:avLst>
              <a:gd fmla="val 348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713232" y="3236976"/>
            <a:ext cx="365700" cy="3657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672" y="33284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/>
          <p:nvPr/>
        </p:nvSpPr>
        <p:spPr>
          <a:xfrm>
            <a:off x="1170432" y="3182112"/>
            <a:ext cx="4635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Trade-off: keyword department routing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31520" y="3639312"/>
            <a:ext cx="507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Keyword-matched routing is fast and fully explainable to an ops team, but coarser than letting the model pick the department directly.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217920" y="3090672"/>
            <a:ext cx="5440800" cy="1572900"/>
          </a:xfrm>
          <a:prstGeom prst="roundRect">
            <a:avLst>
              <a:gd fmla="val 348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6382512" y="3236976"/>
            <a:ext cx="365700" cy="3657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3952" y="33284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/>
          <p:nvPr/>
        </p:nvSpPr>
        <p:spPr>
          <a:xfrm>
            <a:off x="6839712" y="3182112"/>
            <a:ext cx="4635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Challenge: overreliance on the LLM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400800" y="3639312"/>
            <a:ext cx="507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Trusting one model for both classification and drafting is a single point of failure. Countered with the confidence override, draft-then-hold, and an offline fallback.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48640" y="4809744"/>
            <a:ext cx="5440800" cy="1572900"/>
          </a:xfrm>
          <a:prstGeom prst="roundRect">
            <a:avLst>
              <a:gd fmla="val 348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713232" y="4956048"/>
            <a:ext cx="365700" cy="3657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4672" y="50474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/>
          <p:nvPr/>
        </p:nvSpPr>
        <p:spPr>
          <a:xfrm>
            <a:off x="1170432" y="4901184"/>
            <a:ext cx="4635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Challenge: no way to quantify output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731520" y="5358384"/>
            <a:ext cx="507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 accuracy metric exists beyond manually reading case traces. A labelled evaluation set with a confusion matrix is the top v2 priority.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217920" y="4809744"/>
            <a:ext cx="5440800" cy="1572900"/>
          </a:xfrm>
          <a:prstGeom prst="roundRect">
            <a:avLst>
              <a:gd fmla="val 348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6382512" y="4956048"/>
            <a:ext cx="365700" cy="3657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8" name="Google Shape;17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3952" y="50474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6839712" y="4901184"/>
            <a:ext cx="4635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Learning: the hard part isn't the 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400800" y="5358384"/>
            <a:ext cx="507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Wiring the pipeline was the easy part. The real work was tailoring it to real pain points - the PRD was built by walking through the agent, supervisor, and admin perspectives first.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/>
          <p:nvPr/>
        </p:nvSpPr>
        <p:spPr>
          <a:xfrm>
            <a:off x="548640" y="457200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FB6D9"/>
                </a:solidFill>
                <a:latin typeface="Calibri"/>
                <a:ea typeface="Calibri"/>
                <a:cs typeface="Calibri"/>
                <a:sym typeface="Calibri"/>
              </a:rPr>
              <a:t>DEMO SUMMARY AND NEXT STEPS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48640" y="822960"/>
            <a:ext cx="1106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Classified, remediated, reviewed by a human, and audited — end to end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48640" y="1691640"/>
            <a:ext cx="2606100" cy="1371600"/>
          </a:xfrm>
          <a:prstGeom prst="roundRect">
            <a:avLst>
              <a:gd fmla="val 5333" name="adj"/>
            </a:avLst>
          </a:prstGeom>
          <a:solidFill>
            <a:srgbClr val="1B2650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548640" y="1783080"/>
            <a:ext cx="2606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40080" y="2450592"/>
            <a:ext cx="2423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Remediation branches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337560" y="1691640"/>
            <a:ext cx="2606100" cy="1371600"/>
          </a:xfrm>
          <a:prstGeom prst="roundRect">
            <a:avLst>
              <a:gd fmla="val 5333" name="adj"/>
            </a:avLst>
          </a:prstGeom>
          <a:solidFill>
            <a:srgbClr val="1B2650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3337560" y="1783080"/>
            <a:ext cx="2606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70%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429000" y="2450592"/>
            <a:ext cx="2423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Auto-handled (deflection)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126480" y="1691640"/>
            <a:ext cx="2606100" cy="1371600"/>
          </a:xfrm>
          <a:prstGeom prst="roundRect">
            <a:avLst>
              <a:gd fmla="val 5333" name="adj"/>
            </a:avLst>
          </a:prstGeom>
          <a:solidFill>
            <a:srgbClr val="1B2650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6126480" y="1783080"/>
            <a:ext cx="2606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217920" y="2450592"/>
            <a:ext cx="2423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Human review queue built-in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8915400" y="1691640"/>
            <a:ext cx="2606100" cy="1371600"/>
          </a:xfrm>
          <a:prstGeom prst="roundRect">
            <a:avLst>
              <a:gd fmla="val 5333" name="adj"/>
            </a:avLst>
          </a:prstGeom>
          <a:solidFill>
            <a:srgbClr val="1B2650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8915400" y="1783080"/>
            <a:ext cx="2606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9006840" y="2450592"/>
            <a:ext cx="2423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Live email alerts to stakeholders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48640" y="3337560"/>
            <a:ext cx="539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 Run — Volume by Type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657600"/>
            <a:ext cx="5394900" cy="23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/>
          <p:nvPr/>
        </p:nvSpPr>
        <p:spPr>
          <a:xfrm>
            <a:off x="6263640" y="3337560"/>
            <a:ext cx="539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263640" y="3703320"/>
            <a:ext cx="53949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E6F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6F5"/>
                </a:solidFill>
                <a:latin typeface="Calibri"/>
                <a:ea typeface="Calibri"/>
                <a:cs typeface="Calibri"/>
                <a:sym typeface="Calibri"/>
              </a:rPr>
              <a:t>Labelled evaluation set to measure classification accuracy; model-driven department routing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CE6F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6F5"/>
                </a:solidFill>
                <a:latin typeface="Calibri"/>
                <a:ea typeface="Calibri"/>
                <a:cs typeface="Calibri"/>
                <a:sym typeface="Calibri"/>
              </a:rPr>
              <a:t>Case threading — link repeat contacts from the same customer and auto-escalate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CE6F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6F5"/>
                </a:solidFill>
                <a:latin typeface="Calibri"/>
                <a:ea typeface="Calibri"/>
                <a:cs typeface="Calibri"/>
                <a:sym typeface="Calibri"/>
              </a:rPr>
              <a:t>Urgency-scaled SLAs and follow-ups; Slack alerts and ticketing integration (e.g. Zendesk)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CE6F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6F5"/>
                </a:solidFill>
                <a:latin typeface="Calibri"/>
                <a:ea typeface="Calibri"/>
                <a:cs typeface="Calibri"/>
                <a:sym typeface="Calibri"/>
              </a:rPr>
              <a:t>Feedback loop: learn from human reclassifications to refine the classifier prompt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48640" y="6355080"/>
            <a:ext cx="1106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FB6D9"/>
                </a:solidFill>
                <a:latin typeface="Calibri"/>
                <a:ea typeface="Calibri"/>
                <a:cs typeface="Calibri"/>
                <a:sym typeface="Calibri"/>
              </a:rPr>
              <a:t>Repository: </a:t>
            </a: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github.com/yos-fatahillah/incoming-request-workflow</a:t>
            </a:r>
            <a:r>
              <a:rPr b="0" i="1" lang="en-US" sz="1050" u="none" cap="none" strike="noStrike">
                <a:solidFill>
                  <a:srgbClr val="7F97C0"/>
                </a:solidFill>
                <a:latin typeface="Calibri"/>
                <a:ea typeface="Calibri"/>
                <a:cs typeface="Calibri"/>
                <a:sym typeface="Calibri"/>
              </a:rPr>
              <a:t>    •    Deliverables: prototype, README, PRD, sample inputs/outputs, demo recording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